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zur, Nitsan" initials="TN" lastIdx="1" clrIdx="0">
    <p:extLst>
      <p:ext uri="{19B8F6BF-5375-455C-9EA6-DF929625EA0E}">
        <p15:presenceInfo xmlns:p15="http://schemas.microsoft.com/office/powerpoint/2012/main" userId="S::nitsant@bu.edu::d92b19c8-0397-40b0-a253-25ff1ca23f3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696" y="-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14T14:55:13.145" idx="1">
    <p:pos x="10" y="10"/>
    <p:text>Maybe we should </p:text>
    <p:extLst>
      <p:ext uri="{C676402C-5697-4E1C-873F-D02D1690AC5C}">
        <p15:threadingInfo xmlns:p15="http://schemas.microsoft.com/office/powerpoint/2012/main" timeZoneBias="24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1636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554480"/>
            <a:ext cx="4572000" cy="4572000"/>
          </a:xfrm>
          <a:prstGeom prst="ellipse">
            <a:avLst/>
          </a:prstGeom>
          <a:solidFill>
            <a:srgbClr val="163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63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MODEL MIGRATION &amp; IN-HOUSE DEPLOYMENT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Gait Foundation Model,</a:t>
            </a:r>
            <a:endParaRPr lang="en-US" sz="44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in-house — end to end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migrated the co-authored movement model into Newton's own environment, verified it runs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correctly, and reproduced the study's published results as an end-to-end check.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BioPilot.ai  ·  prepared for Newton-Tech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62362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BP-PO008-001  ·  v1.0 Draft  ·  2026-08-13  ·  Jointly-owned (IP §5.6)  ·  Confidential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Part 1 set out to 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943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600" dirty="0"/>
          </a:p>
          <a:p>
            <a:pPr marL="0" indent="0">
              <a:lnSpc>
                <a:spcPts val="22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1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gait foundation model, co-authored with the Weizmann research team and described in the recent paper, and make it run reliably inside Newton's own environment, then prove it works from start to finish.</a:t>
            </a:r>
            <a:endParaRPr lang="en-US" sz="1600" dirty="0"/>
          </a:p>
          <a:p>
            <a:pPr marL="0" indent="0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deliverable</a:t>
            </a: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in-house model, its source code, and integration notes so the team can run and build on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0" y="1783080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EEF4F7"/>
          </a:solidFill>
          <a:ln/>
          <a:effectLst>
            <a:outerShdw blurRad="101600" dist="25400" dir="5400000" algn="bl" rotWithShape="0">
              <a:srgbClr val="9BB0B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086600" y="2039112"/>
            <a:ext cx="493776" cy="49377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86600" y="20391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818120" y="19293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818120" y="229514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checkpoint into Newton's setup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0" y="3017520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EEF4F7"/>
          </a:solidFill>
          <a:ln/>
          <a:effectLst>
            <a:outerShdw blurRad="101600" dist="25400" dir="5400000" algn="bl" rotWithShape="0">
              <a:srgbClr val="9BB0B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086600" y="3273552"/>
            <a:ext cx="493776" cy="49377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86600" y="32735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818120" y="31638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818120" y="352958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correctly, end to end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0" y="4251960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EEF4F7"/>
          </a:solidFill>
          <a:ln/>
          <a:effectLst>
            <a:outerShdw blurRad="101600" dist="25400" dir="5400000" algn="bl" rotWithShape="0">
              <a:srgbClr val="9BB0B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086600" y="4507992"/>
            <a:ext cx="493776" cy="49377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086600" y="45079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818120" y="439826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818120" y="476402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paper's published results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model actually does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400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depth camera records a person doing simple movements (walking, standing, sit-to-stand)</a:t>
            </a:r>
          </a:p>
          <a:p>
            <a:pPr marL="203200" indent="-2032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video into a moving 3-D stick figure.</a:t>
            </a:r>
            <a:endParaRPr lang="en-US" sz="1500" dirty="0"/>
          </a:p>
          <a:p>
            <a:pPr marL="203200" indent="-2032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has learned what healthy human movement looks like to a point it can redraw a person's motion from a partial view, accurate to about 8 millimetres.</a:t>
            </a:r>
            <a:endParaRPr lang="en-US" sz="1500" dirty="0"/>
          </a:p>
          <a:p>
            <a:pPr marL="203200" indent="-2032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1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doing so it produces a compact “movement fingerprint” for each recording (1,024 numbers) that capture how someone moves. Those fingerprints are what we predict health traits from.</a:t>
            </a:r>
            <a:endParaRPr lang="en-US" sz="1500" dirty="0"/>
          </a:p>
        </p:txBody>
      </p:sp>
      <p:pic>
        <p:nvPicPr>
          <p:cNvPr id="5" name="Image 0" descr="/private/tmp/claude-501/-Users-arotem-Documents-GitHub-GaitPredict/5b672531-fc98-4e03-9e13-c6f47d76fe02/scratchpad/recon_stil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0" y="1600200"/>
            <a:ext cx="4023360" cy="4480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0" y="59893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movement (blue) vs. the model's reconstruction (green) — they overlap almost perfectly.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STEPS, END TO END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migrated it in-house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environment   </a:t>
            </a: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native install on Newton's Apple-Silicon Mac (cloud/GPU path documented too).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76148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2761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271576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model   </a:t>
            </a: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the co-authored checkpoint and rebuilt its architecture automatically from the saved weights.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69417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3694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71600" y="3648456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it runs   </a:t>
            </a: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it reconstructs movement to ~8 mm, the same accuracy reported in the paper.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4626864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46268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4581144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Newton's data   </a:t>
            </a: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recordings directly from Newton's cloud (S3) storage, without keeping any sensitive files on the machine.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5559552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55595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551383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embeddings   </a:t>
            </a: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 each recording into its 1,024-number movement fingerprint, ready for analysis.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CHECK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movement alone predict health traits? Yes.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only the movement fingerprints, we predicted age, body-mass index (BMI) and sex for 3,643 people, the paper's headline result and matched the published numbers.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926080"/>
            <a:ext cx="3291840" cy="2468880"/>
          </a:xfrm>
          <a:prstGeom prst="roundRect">
            <a:avLst>
              <a:gd name="adj" fmla="val 2963"/>
            </a:avLst>
          </a:prstGeom>
          <a:solidFill>
            <a:srgbClr val="16324A"/>
          </a:solidFill>
          <a:ln/>
          <a:effectLst>
            <a:outerShdw blurRad="101600" dist="25400" dir="5400000" algn="bl" rotWithShape="0">
              <a:srgbClr val="9BB0B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99.8%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22960" y="46634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E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(AUC 0.998)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2926080"/>
            <a:ext cx="3291840" cy="2468880"/>
          </a:xfrm>
          <a:prstGeom prst="roundRect">
            <a:avLst>
              <a:gd name="adj" fmla="val 2963"/>
            </a:avLst>
          </a:prstGeom>
          <a:solidFill>
            <a:srgbClr val="16324A"/>
          </a:solidFill>
          <a:ln/>
          <a:effectLst>
            <a:outerShdw blurRad="101600" dist="25400" dir="5400000" algn="bl" rotWithShape="0">
              <a:srgbClr val="9BB0B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80560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0560" y="36576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0.87–0.90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480560" y="46634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E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truth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2926080"/>
            <a:ext cx="3291840" cy="2468880"/>
          </a:xfrm>
          <a:prstGeom prst="roundRect">
            <a:avLst>
              <a:gd name="adj" fmla="val 2963"/>
            </a:avLst>
          </a:prstGeom>
          <a:solidFill>
            <a:srgbClr val="16324A"/>
          </a:solidFill>
          <a:ln/>
          <a:effectLst>
            <a:outerShdw blurRad="101600" dist="25400" dir="5400000" algn="bl" rotWithShape="0">
              <a:srgbClr val="9BB0B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138160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38160" y="36576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 ~6 yrs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8138160" y="46634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E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movement alone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F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carries real physiological signal, the basis for Newton's downstream health analytics.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in-house results match the paper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712526"/>
              </p:ext>
            </p:extLst>
          </p:nvPr>
        </p:nvGraphicFramePr>
        <p:xfrm>
          <a:off x="548640" y="1874520"/>
          <a:ext cx="6583680" cy="3401568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Trait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Our in-house model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Published paper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 (accuracy)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9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BMI - men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9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BMI - women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9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- men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9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r>
                        <a:rPr lang="he-IL" sz="1400" dirty="0">
                          <a:solidFill>
                            <a:srgbClr val="1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- </a:t>
                      </a:r>
                      <a:r>
                        <a:rPr lang="en-US" sz="1400" dirty="0">
                          <a:solidFill>
                            <a:srgbClr val="1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women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9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87452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EEF4F7"/>
          </a:solidFill>
          <a:ln/>
          <a:effectLst>
            <a:outerShdw blurRad="101600" dist="25400" dir="5400000" algn="bl" rotWithShape="0">
              <a:srgbClr val="9BB0B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863840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it</a:t>
            </a:r>
            <a:endParaRPr lang="en-US" sz="1800" dirty="0"/>
          </a:p>
        </p:txBody>
      </p:sp>
      <p:sp>
        <p:nvSpPr>
          <p:cNvPr id="4" name="Text 4"/>
          <p:cNvSpPr/>
          <p:nvPr/>
        </p:nvSpPr>
        <p:spPr>
          <a:xfrm>
            <a:off x="7863840" y="256032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are correlation / accuracy  (higher is better) 1.0 is perfect.</a:t>
            </a:r>
            <a:endParaRPr lang="en-US" sz="135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trait lands within a few hundredths of the published value.</a:t>
            </a:r>
            <a:endParaRPr lang="en-US" sz="1350" dirty="0"/>
          </a:p>
          <a:p>
            <a:pPr marL="177800" indent="-177800">
              <a:lnSpc>
                <a:spcPts val="2000"/>
              </a:lnSpc>
              <a:buSzPct val="100000"/>
              <a:buChar char="•"/>
            </a:pPr>
            <a:r>
              <a:rPr lang="en-US" sz="1350" dirty="0">
                <a:solidFill>
                  <a:srgbClr val="1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prediction slightly exceeds the paper.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5806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exactly as the paper does: separate models per sex, tested on people the model never trained on, averaged over 15 repeats.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VS. ACTUAL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results, at a glance</a:t>
            </a:r>
            <a:endParaRPr lang="en-US" sz="3200" dirty="0"/>
          </a:p>
        </p:txBody>
      </p:sp>
      <p:pic>
        <p:nvPicPr>
          <p:cNvPr id="4" name="Image 0" descr="/Users/arotem/Documents/GitHub/GaitPredict/results/ntds_5task_full_age_scatt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691640"/>
            <a:ext cx="3566160" cy="3566160"/>
          </a:xfrm>
          <a:prstGeom prst="rect">
            <a:avLst/>
          </a:prstGeom>
        </p:spPr>
      </p:pic>
      <p:pic>
        <p:nvPicPr>
          <p:cNvPr id="5" name="Image 1" descr="/Users/arotem/Documents/GitHub/GaitPredict/results/ntds_5task_full_bmi_scatte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89120" y="1691640"/>
            <a:ext cx="3566160" cy="3566160"/>
          </a:xfrm>
          <a:prstGeom prst="rect">
            <a:avLst/>
          </a:prstGeom>
        </p:spPr>
      </p:pic>
      <p:pic>
        <p:nvPicPr>
          <p:cNvPr id="6" name="Image 2" descr="/Users/arotem/Documents/GitHub/GaitPredict/results/ntds_5task_full_gender_roc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75320" y="1691640"/>
            <a:ext cx="3566160" cy="356616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48640" y="5577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is a person: predictions (vertical) track their true values (horizontal). The sex panel shows near-perfect separation.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OUTPUTS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delivered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EEF4F7"/>
          </a:solidFill>
          <a:ln/>
          <a:effectLst>
            <a:outerShdw blurRad="101600" dist="25400" dir="5400000" algn="bl" rotWithShape="0">
              <a:srgbClr val="9BB0B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07568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20391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in-house model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496312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co-authored model runs on Newton's hardware, loading the checkpoint and producing embeddings.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EEF4F7"/>
          </a:solidFill>
          <a:ln/>
          <a:effectLst>
            <a:outerShdw blurRad="101600" dist="25400" dir="5400000" algn="bl" rotWithShape="0">
              <a:srgbClr val="9BB0B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92240" y="207568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9224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223760" y="20391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code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23760" y="2496312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clean, reusable Python modules: a streaming extractor and the analysis/probe.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EEF4F7"/>
          </a:solidFill>
          <a:ln/>
          <a:effectLst>
            <a:outerShdw blurRad="101600" dist="25400" dir="5400000" algn="bl" rotWithShape="0">
              <a:srgbClr val="9BB0B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404164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4041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40050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Reviewable notebook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4462272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Jupyter notebook that shows each step live: the model running, the fingerprints, the results and plots.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37490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EEF4F7"/>
          </a:solidFill>
          <a:ln/>
          <a:effectLst>
            <a:outerShdw blurRad="101600" dist="25400" dir="5400000" algn="bl" rotWithShape="0">
              <a:srgbClr val="9BB0B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92240" y="404164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92240" y="4041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23760" y="40050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notes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23760" y="4462272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Environment, data flow, how to run, and known limitations, this report plus the written notes.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what comes next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limitations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validates the model on age, BMI and sex. The paper's broader 18-body-system phenotypes are future work.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Visceral-fat (VAT) prediction from the paper is excluded, as that label isn't in Newton's data.</a:t>
            </a:r>
            <a:endParaRPr lang="en-US" sz="1400" dirty="0"/>
          </a:p>
          <a:p>
            <a:pPr marL="177800" indent="-1778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1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residual gap (≈ 0.02) to the paper remains attributable to cohort and aggregation details, not the model.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next steps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0" y="224028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 a naïve </a:t>
            </a:r>
            <a:r>
              <a:rPr lang="en-US" sz="1400">
                <a:solidFill>
                  <a:srgbClr val="1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gait model</a:t>
            </a:r>
            <a:endParaRPr lang="en-US" sz="1400" dirty="0"/>
          </a:p>
          <a:p>
            <a:pPr marL="177800" indent="-1778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similar prediction accuracies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55321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BF3E7"/>
          </a:solidFill>
          <a:ln/>
          <a:effectLst>
            <a:outerShdw blurRad="101600" dist="25400" dir="5400000" algn="bl" rotWithShape="0">
              <a:srgbClr val="9BB0B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56692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C7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&amp; data note   </a:t>
            </a:r>
            <a:r>
              <a:rPr lang="en-US" sz="1300" dirty="0">
                <a:solidFill>
                  <a:srgbClr val="1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and training pipeline are jointly-owned (master agreement §5.6). Recordings are subject-level and stay within Newton's environment; nothing is stored on local machines.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023360"/>
            <a:ext cx="4114800" cy="4114800"/>
          </a:xfrm>
          <a:prstGeom prst="ellipse">
            <a:avLst/>
          </a:prstGeom>
          <a:solidFill>
            <a:srgbClr val="163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COMPLETE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runs in-house, end to end </a:t>
            </a:r>
            <a:endParaRPr lang="en-US" sz="34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reproduces the published science.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in-house model  ·  source code  ·  integration notes - delivered.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4892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Traceability: repo GaitPredict · commits 6f021e7, 5e550e4 · code, results &amp; notebook in-repo.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52303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BP-PO008-001 · v1.0 Draft for Newton review · reviewed / approved by Newton VP R&amp;D.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BioPilot.ai  for  Newton-Tech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821</TotalTime>
  <Words>894</Words>
  <Application>Microsoft Macintosh PowerPoint</Application>
  <PresentationFormat>Widescreen</PresentationFormat>
  <Paragraphs>123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Tzur, Nitsan</cp:lastModifiedBy>
  <cp:revision>4</cp:revision>
  <dcterms:created xsi:type="dcterms:W3CDTF">2026-08-13T20:23:00Z</dcterms:created>
  <dcterms:modified xsi:type="dcterms:W3CDTF">2026-08-14T19:11:07Z</dcterms:modified>
</cp:coreProperties>
</file>